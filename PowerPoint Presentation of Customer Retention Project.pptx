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53"/>
  </p:notesMasterIdLst>
  <p:sldIdLst>
    <p:sldId id="256" r:id="rId2"/>
    <p:sldId id="260" r:id="rId3"/>
    <p:sldId id="257" r:id="rId4"/>
    <p:sldId id="258" r:id="rId5"/>
    <p:sldId id="307" r:id="rId6"/>
    <p:sldId id="259" r:id="rId7"/>
    <p:sldId id="262" r:id="rId8"/>
    <p:sldId id="263" r:id="rId9"/>
    <p:sldId id="264" r:id="rId10"/>
    <p:sldId id="265" r:id="rId11"/>
    <p:sldId id="266" r:id="rId12"/>
    <p:sldId id="268" r:id="rId13"/>
    <p:sldId id="269" r:id="rId14"/>
    <p:sldId id="30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9" r:id="rId51"/>
    <p:sldId id="306"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1T04:53:30.291"/>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1T04:53:53.599"/>
    </inkml:context>
    <inkml:brush xml:id="br0">
      <inkml:brushProperty name="width" value="0.05" units="cm"/>
      <inkml:brushProperty name="height" value="0.0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1T04:53:55.139"/>
    </inkml:context>
    <inkml:brush xml:id="br0">
      <inkml:brushProperty name="width" value="0.05" units="cm"/>
      <inkml:brushProperty name="height" value="0.0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7449F8-31E1-470D-ACC9-A8B374B846C5}" type="datetimeFigureOut">
              <a:rPr lang="en-IN" smtClean="0"/>
              <a:t>12-05-2022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0B6DE-81BA-489B-82B6-92BEE484C1F0}" type="slidenum">
              <a:rPr lang="en-IN" smtClean="0"/>
              <a:t>‹#›</a:t>
            </a:fld>
            <a:endParaRPr lang="en-IN"/>
          </a:p>
        </p:txBody>
      </p:sp>
    </p:spTree>
    <p:extLst>
      <p:ext uri="{BB962C8B-B14F-4D97-AF65-F5344CB8AC3E}">
        <p14:creationId xmlns:p14="http://schemas.microsoft.com/office/powerpoint/2010/main" val="4075859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solidFill>
                  <a:schemeClr val="accent2">
                    <a:lumMod val="75000"/>
                  </a:schemeClr>
                </a:solidFill>
              </a:rPr>
              <a:t>We can see that there are more female customers than male customers</a:t>
            </a:r>
            <a:endParaRPr lang="en-IN" sz="2000" dirty="0">
              <a:solidFill>
                <a:schemeClr val="accent2">
                  <a:lumMod val="75000"/>
                </a:schemeClr>
              </a:solidFill>
            </a:endParaRPr>
          </a:p>
        </p:txBody>
      </p:sp>
      <p:sp>
        <p:nvSpPr>
          <p:cNvPr id="4" name="Slide Number Placeholder 3"/>
          <p:cNvSpPr>
            <a:spLocks noGrp="1"/>
          </p:cNvSpPr>
          <p:nvPr>
            <p:ph type="sldNum" sz="quarter" idx="5"/>
          </p:nvPr>
        </p:nvSpPr>
        <p:spPr/>
        <p:txBody>
          <a:bodyPr/>
          <a:lstStyle/>
          <a:p>
            <a:fld id="{B040B6DE-81BA-489B-82B6-92BEE484C1F0}" type="slidenum">
              <a:rPr lang="en-IN" smtClean="0"/>
              <a:t>3</a:t>
            </a:fld>
            <a:endParaRPr lang="en-IN"/>
          </a:p>
        </p:txBody>
      </p:sp>
    </p:spTree>
    <p:extLst>
      <p:ext uri="{BB962C8B-B14F-4D97-AF65-F5344CB8AC3E}">
        <p14:creationId xmlns:p14="http://schemas.microsoft.com/office/powerpoint/2010/main" val="3429007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40B6DE-81BA-489B-82B6-92BEE484C1F0}" type="slidenum">
              <a:rPr lang="en-IN" smtClean="0"/>
              <a:t>4</a:t>
            </a:fld>
            <a:endParaRPr lang="en-IN"/>
          </a:p>
        </p:txBody>
      </p:sp>
    </p:spTree>
    <p:extLst>
      <p:ext uri="{BB962C8B-B14F-4D97-AF65-F5344CB8AC3E}">
        <p14:creationId xmlns:p14="http://schemas.microsoft.com/office/powerpoint/2010/main" val="2451928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40B6DE-81BA-489B-82B6-92BEE484C1F0}" type="slidenum">
              <a:rPr lang="en-IN" smtClean="0"/>
              <a:t>13</a:t>
            </a:fld>
            <a:endParaRPr lang="en-IN"/>
          </a:p>
        </p:txBody>
      </p:sp>
    </p:spTree>
    <p:extLst>
      <p:ext uri="{BB962C8B-B14F-4D97-AF65-F5344CB8AC3E}">
        <p14:creationId xmlns:p14="http://schemas.microsoft.com/office/powerpoint/2010/main" val="3682626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AA02E-0A2B-4D12-A2C8-538D4BC47CE6}" type="datetimeFigureOut">
              <a:rPr lang="en-IN" smtClean="0"/>
              <a:t>12-05-2022</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F6C16068-CE98-477B-AE02-6B8CC86FACBB}"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0583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EAA02E-0A2B-4D12-A2C8-538D4BC47CE6}"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16068-CE98-477B-AE02-6B8CC86FACBB}"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564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EAA02E-0A2B-4D12-A2C8-538D4BC47CE6}"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16068-CE98-477B-AE02-6B8CC86FACBB}"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2755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EAA02E-0A2B-4D12-A2C8-538D4BC47CE6}" type="datetimeFigureOut">
              <a:rPr lang="en-IN" smtClean="0"/>
              <a:t>12-05-2022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16068-CE98-477B-AE02-6B8CC86FACBB}"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5722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EAA02E-0A2B-4D12-A2C8-538D4BC47CE6}" type="datetimeFigureOut">
              <a:rPr lang="en-IN" smtClean="0"/>
              <a:t>12-05-2022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C16068-CE98-477B-AE02-6B8CC86FACBB}"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5532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EAA02E-0A2B-4D12-A2C8-538D4BC47CE6}" type="datetimeFigureOut">
              <a:rPr lang="en-IN" smtClean="0"/>
              <a:t>12-05-2022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16068-CE98-477B-AE02-6B8CC86FACBB}"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79095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EAA02E-0A2B-4D12-A2C8-538D4BC47CE6}" type="datetimeFigureOut">
              <a:rPr lang="en-IN" smtClean="0"/>
              <a:t>12-05-2022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C16068-CE98-477B-AE02-6B8CC86FACBB}" type="slidenum">
              <a:rPr lang="en-IN" smtClean="0"/>
              <a:t>‹#›</a:t>
            </a:fld>
            <a:endParaRPr lang="en-IN"/>
          </a:p>
        </p:txBody>
      </p:sp>
    </p:spTree>
    <p:extLst>
      <p:ext uri="{BB962C8B-B14F-4D97-AF65-F5344CB8AC3E}">
        <p14:creationId xmlns:p14="http://schemas.microsoft.com/office/powerpoint/2010/main" val="1555853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EAA02E-0A2B-4D12-A2C8-538D4BC47CE6}" type="datetimeFigureOut">
              <a:rPr lang="en-IN" smtClean="0"/>
              <a:t>12-05-2022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16068-CE98-477B-AE02-6B8CC86FACBB}"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0871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EEAA02E-0A2B-4D12-A2C8-538D4BC47CE6}" type="datetimeFigureOut">
              <a:rPr lang="en-IN" smtClean="0"/>
              <a:t>12-05-2022</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F6C16068-CE98-477B-AE02-6B8CC86FACBB}"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5744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EAA02E-0A2B-4D12-A2C8-538D4BC47CE6}"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16068-CE98-477B-AE02-6B8CC86FACBB}"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406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EAA02E-0A2B-4D12-A2C8-538D4BC47CE6}"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16068-CE98-477B-AE02-6B8CC86FACBB}"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6012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EEAA02E-0A2B-4D12-A2C8-538D4BC47CE6}" type="datetimeFigureOut">
              <a:rPr lang="en-IN" smtClean="0"/>
              <a:t>12-05-2022</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6C16068-CE98-477B-AE02-6B8CC86FACBB}"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05197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ustomXml" Target="../ink/ink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4.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AD9C-1561-3D61-5A67-197731C0193D}"/>
              </a:ext>
            </a:extLst>
          </p:cNvPr>
          <p:cNvSpPr>
            <a:spLocks noGrp="1"/>
          </p:cNvSpPr>
          <p:nvPr>
            <p:ph type="ctrTitle"/>
          </p:nvPr>
        </p:nvSpPr>
        <p:spPr/>
        <p:txBody>
          <a:bodyPr>
            <a:normAutofit/>
          </a:bodyPr>
          <a:lstStyle/>
          <a:p>
            <a:pPr algn="ctr"/>
            <a:r>
              <a:rPr lang="en-IN" sz="4500" b="1" i="0" u="sng" dirty="0" err="1">
                <a:solidFill>
                  <a:srgbClr val="7030A0"/>
                </a:solidFill>
                <a:latin typeface="Open Sans" panose="020B0604020202020204" pitchFamily="34" charset="0"/>
              </a:rPr>
              <a:t>Powerpoint</a:t>
            </a:r>
            <a:r>
              <a:rPr lang="en-IN" sz="4500" b="1" i="0" u="sng" dirty="0">
                <a:solidFill>
                  <a:srgbClr val="7030A0"/>
                </a:solidFill>
                <a:latin typeface="Open Sans" panose="020B0604020202020204" pitchFamily="34" charset="0"/>
              </a:rPr>
              <a:t> Presentation</a:t>
            </a:r>
            <a:br>
              <a:rPr lang="en-IN" sz="4500" b="1" i="0" u="sng" dirty="0">
                <a:solidFill>
                  <a:srgbClr val="7030A0"/>
                </a:solidFill>
                <a:latin typeface="Open Sans" panose="020B0604020202020204" pitchFamily="34" charset="0"/>
              </a:rPr>
            </a:br>
            <a:r>
              <a:rPr lang="en-IN" sz="4500" b="1" i="0" u="sng" dirty="0">
                <a:solidFill>
                  <a:srgbClr val="7030A0"/>
                </a:solidFill>
                <a:latin typeface="Open Sans" panose="020B0604020202020204" pitchFamily="34" charset="0"/>
              </a:rPr>
              <a:t>Of</a:t>
            </a:r>
            <a:br>
              <a:rPr lang="en-IN" sz="4500" b="1" i="0" u="sng" dirty="0">
                <a:solidFill>
                  <a:srgbClr val="7030A0"/>
                </a:solidFill>
                <a:latin typeface="Open Sans" panose="020B0604020202020204" pitchFamily="34" charset="0"/>
              </a:rPr>
            </a:br>
            <a:r>
              <a:rPr lang="en-IN" sz="4500" b="1" i="0" u="sng" dirty="0">
                <a:solidFill>
                  <a:srgbClr val="7030A0"/>
                </a:solidFill>
                <a:latin typeface="Open Sans" panose="020B0606030504020204" pitchFamily="34" charset="0"/>
              </a:rPr>
              <a:t>Customer Retention</a:t>
            </a:r>
            <a:endParaRPr lang="en-IN" sz="4500" b="1" u="sng" dirty="0">
              <a:solidFill>
                <a:srgbClr val="7030A0"/>
              </a:solidFill>
            </a:endParaRPr>
          </a:p>
        </p:txBody>
      </p:sp>
      <p:sp>
        <p:nvSpPr>
          <p:cNvPr id="3" name="Subtitle 2">
            <a:extLst>
              <a:ext uri="{FF2B5EF4-FFF2-40B4-BE49-F238E27FC236}">
                <a16:creationId xmlns:a16="http://schemas.microsoft.com/office/drawing/2014/main" id="{F1BEAA3D-E7CA-654F-D2F3-84A3F1CAF62F}"/>
              </a:ext>
            </a:extLst>
          </p:cNvPr>
          <p:cNvSpPr>
            <a:spLocks noGrp="1"/>
          </p:cNvSpPr>
          <p:nvPr>
            <p:ph type="subTitle" idx="1"/>
          </p:nvPr>
        </p:nvSpPr>
        <p:spPr>
          <a:xfrm>
            <a:off x="2417780" y="3514272"/>
            <a:ext cx="8637072" cy="1888152"/>
          </a:xfrm>
        </p:spPr>
        <p:txBody>
          <a:bodyPr>
            <a:normAutofit/>
          </a:bodyPr>
          <a:lstStyle/>
          <a:p>
            <a:pPr marL="285750" indent="-285750">
              <a:buFont typeface="Arial" panose="020B0604020202020204" pitchFamily="34" charset="0"/>
              <a:buChar char="•"/>
            </a:pPr>
            <a:r>
              <a:rPr lang="en-IN" b="0" i="0" cap="none" dirty="0">
                <a:solidFill>
                  <a:schemeClr val="accent2">
                    <a:lumMod val="75000"/>
                  </a:schemeClr>
                </a:solidFill>
                <a:effectLst/>
                <a:latin typeface="Open Sans" panose="020B0606030504020204" pitchFamily="34" charset="0"/>
              </a:rPr>
              <a:t>Problem statement </a:t>
            </a:r>
            <a:endParaRPr lang="en-US" b="0" i="0" cap="none" dirty="0">
              <a:solidFill>
                <a:schemeClr val="accent2">
                  <a:lumMod val="75000"/>
                </a:schemeClr>
              </a:solidFill>
              <a:effectLst/>
              <a:latin typeface="Open Sans" panose="020B0606030504020204" pitchFamily="34" charset="0"/>
            </a:endParaRPr>
          </a:p>
          <a:p>
            <a:pPr marL="285750" indent="-285750">
              <a:buFont typeface="Arial" panose="020B0604020202020204" pitchFamily="34" charset="0"/>
              <a:buChar char="•"/>
            </a:pPr>
            <a:r>
              <a:rPr lang="en-US" b="0" i="0" cap="none" dirty="0">
                <a:solidFill>
                  <a:schemeClr val="accent2">
                    <a:lumMod val="75000"/>
                  </a:schemeClr>
                </a:solidFill>
                <a:effectLst/>
                <a:latin typeface="Open Sans" panose="020B0606030504020204" pitchFamily="34" charset="0"/>
              </a:rPr>
              <a:t>Understanding, EDA steps and visualizations</a:t>
            </a:r>
          </a:p>
          <a:p>
            <a:pPr marL="285750" indent="-285750">
              <a:buFont typeface="Arial" panose="020B0604020202020204" pitchFamily="34" charset="0"/>
              <a:buChar char="•"/>
            </a:pPr>
            <a:r>
              <a:rPr lang="en-US" b="0" i="0" cap="none" dirty="0">
                <a:solidFill>
                  <a:schemeClr val="accent2">
                    <a:lumMod val="75000"/>
                  </a:schemeClr>
                </a:solidFill>
                <a:effectLst/>
                <a:latin typeface="Open Sans" panose="020B0606030504020204" pitchFamily="34" charset="0"/>
              </a:rPr>
              <a:t>Steps and assumptions used to complete the project</a:t>
            </a:r>
          </a:p>
          <a:p>
            <a:pPr marL="285750" indent="-285750">
              <a:buFont typeface="Arial" panose="020B0604020202020204" pitchFamily="34" charset="0"/>
              <a:buChar char="•"/>
            </a:pPr>
            <a:r>
              <a:rPr lang="en-IN" b="0" i="0" cap="none" dirty="0">
                <a:solidFill>
                  <a:schemeClr val="accent2">
                    <a:lumMod val="75000"/>
                  </a:schemeClr>
                </a:solidFill>
                <a:effectLst/>
                <a:latin typeface="Open Sans" panose="020B0606030504020204" pitchFamily="34" charset="0"/>
              </a:rPr>
              <a:t>Analysis, and conclusion</a:t>
            </a:r>
            <a:r>
              <a:rPr lang="en-IN" b="0" i="0" dirty="0">
                <a:solidFill>
                  <a:srgbClr val="4E5E6A"/>
                </a:solidFill>
                <a:effectLst/>
                <a:latin typeface="Open Sans" panose="020B0606030504020204" pitchFamily="34" charset="0"/>
              </a:rPr>
              <a:t>.</a:t>
            </a:r>
            <a:endParaRPr lang="en-US" b="0" i="0" cap="none" dirty="0">
              <a:solidFill>
                <a:schemeClr val="accent2">
                  <a:lumMod val="75000"/>
                </a:schemeClr>
              </a:solidFill>
              <a:effectLst/>
              <a:latin typeface="Open Sans" panose="020B0606030504020204" pitchFamily="34" charset="0"/>
            </a:endParaRPr>
          </a:p>
          <a:p>
            <a:pPr marL="285750" indent="-285750">
              <a:buFont typeface="Arial" panose="020B0604020202020204" pitchFamily="34" charset="0"/>
              <a:buChar char="•"/>
            </a:pPr>
            <a:endParaRPr lang="en-US" b="0" i="0" cap="none" dirty="0">
              <a:solidFill>
                <a:schemeClr val="accent2">
                  <a:lumMod val="75000"/>
                </a:schemeClr>
              </a:solidFill>
              <a:effectLst/>
              <a:latin typeface="Open Sans" panose="020B0606030504020204" pitchFamily="34" charset="0"/>
            </a:endParaRPr>
          </a:p>
          <a:p>
            <a:pPr marL="285750" indent="-285750">
              <a:buFont typeface="Arial" panose="020B0604020202020204" pitchFamily="34" charset="0"/>
              <a:buChar char="•"/>
            </a:pPr>
            <a:endParaRPr lang="en-IN" cap="none" dirty="0">
              <a:solidFill>
                <a:schemeClr val="accent2">
                  <a:lumMod val="75000"/>
                </a:schemeClr>
              </a:solidFill>
            </a:endParaRPr>
          </a:p>
        </p:txBody>
      </p:sp>
    </p:spTree>
    <p:extLst>
      <p:ext uri="{BB962C8B-B14F-4D97-AF65-F5344CB8AC3E}">
        <p14:creationId xmlns:p14="http://schemas.microsoft.com/office/powerpoint/2010/main" val="1639205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CBB0-0A31-D3D0-E4C5-2BCDDF72DBC0}"/>
              </a:ext>
            </a:extLst>
          </p:cNvPr>
          <p:cNvSpPr>
            <a:spLocks noGrp="1"/>
          </p:cNvSpPr>
          <p:nvPr>
            <p:ph type="title"/>
          </p:nvPr>
        </p:nvSpPr>
        <p:spPr/>
        <p:txBody>
          <a:bodyPr>
            <a:normAutofit fontScale="90000"/>
          </a:bodyPr>
          <a:lstStyle/>
          <a:p>
            <a:r>
              <a:rPr lang="en-IN" sz="6000" b="1" i="0" cap="none"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Open Sans" panose="020B0606030504020204" pitchFamily="34" charset="0"/>
              </a:rPr>
              <a:t>Problem Statement: </a:t>
            </a:r>
            <a:br>
              <a:rPr lang="en-US" b="0" i="0" cap="none" dirty="0">
                <a:solidFill>
                  <a:schemeClr val="accent2">
                    <a:lumMod val="75000"/>
                  </a:schemeClr>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316DF2D4-1F2C-724C-73DD-63684257B343}"/>
              </a:ext>
            </a:extLst>
          </p:cNvPr>
          <p:cNvSpPr>
            <a:spLocks noGrp="1"/>
          </p:cNvSpPr>
          <p:nvPr>
            <p:ph idx="1"/>
          </p:nvPr>
        </p:nvSpPr>
        <p:spPr/>
        <p:txBody>
          <a:bodyPr>
            <a:normAutofit lnSpcReduction="10000"/>
          </a:bodyPr>
          <a:lstStyle/>
          <a:p>
            <a:r>
              <a:rPr lang="en-IN" sz="1800"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Customer satisfaction has emerged as one of the most important factors that guarantee the success of online store; it has been posited as a key stimulant of purchase, repurchase intentions and customer loyalty. A comprehensive review of the literature, theories and models have been carried out to propose the models for customer activation and customer retention. Five major factors that contributed to the success of an e-commerce store have been identified as: service quality, system quality, information quality, trust and net benefit. The research furthermore investigated the factors that influence the online customers repeat purchase intention. The combination of both utilitarian value and hedonistic values are needed to affect the repeat purchase intention (loyalty) positively. The data is collected from the Indian online shoppers. Results indicate the e-retail success factors, which are very much critical for customer satisfaction.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3055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92E2563-E422-3E09-270B-4638E372A0B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06486" y="1811986"/>
            <a:ext cx="6609523" cy="445165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BE425B5-3B5E-A5D9-898A-CF78E56BEC50}"/>
              </a:ext>
            </a:extLst>
          </p:cNvPr>
          <p:cNvSpPr>
            <a:spLocks noGrp="1" noChangeArrowheads="1"/>
          </p:cNvSpPr>
          <p:nvPr>
            <p:ph type="title"/>
          </p:nvPr>
        </p:nvSpPr>
        <p:spPr bwMode="auto">
          <a:xfrm>
            <a:off x="1032015" y="799632"/>
            <a:ext cx="9157014" cy="923330"/>
          </a:xfrm>
          <a:prstGeom prst="rect">
            <a:avLst/>
          </a:prstGeom>
          <a:ln/>
        </p:spPr>
        <p:style>
          <a:lnRef idx="2">
            <a:schemeClr val="accent6"/>
          </a:lnRef>
          <a:fillRef idx="1">
            <a:schemeClr val="lt1"/>
          </a:fillRef>
          <a:effectRef idx="0">
            <a:schemeClr val="accent6"/>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1" i="0" u="none" strike="noStrike" cap="none" normalizeH="0" baseline="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highlight>
                  <a:srgbClr val="FFFF00"/>
                </a:highlight>
                <a:latin typeface="Courier New" panose="02070309020205020404" pitchFamily="49" charset="0"/>
              </a:rPr>
              <a:t>Gender of respondent</a:t>
            </a:r>
            <a:r>
              <a:rPr kumimoji="0" lang="en-US" altLang="en-US" sz="6000" b="1" i="0" u="none" strike="noStrike" cap="none" normalizeH="0" baseline="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highlight>
                  <a:srgbClr val="FFFF00"/>
                </a:highlight>
              </a:rPr>
              <a:t> </a:t>
            </a:r>
            <a:endParaRPr kumimoji="0" lang="en-US" altLang="en-US" sz="6000" b="1" i="0" u="none" strike="noStrike" cap="none" normalizeH="0" baseline="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highlight>
                <a:srgbClr val="FFFF00"/>
              </a:highlight>
              <a:latin typeface="Arial" panose="020B0604020202020204" pitchFamily="34" charset="0"/>
            </a:endParaRPr>
          </a:p>
        </p:txBody>
      </p:sp>
    </p:spTree>
    <p:extLst>
      <p:ext uri="{BB962C8B-B14F-4D97-AF65-F5344CB8AC3E}">
        <p14:creationId xmlns:p14="http://schemas.microsoft.com/office/powerpoint/2010/main" val="285314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8DB45-B163-5886-C5D6-E998A933F08D}"/>
              </a:ext>
            </a:extLst>
          </p:cNvPr>
          <p:cNvSpPr>
            <a:spLocks noGrp="1"/>
          </p:cNvSpPr>
          <p:nvPr>
            <p:ph type="title"/>
          </p:nvPr>
        </p:nvSpPr>
        <p:spPr/>
        <p:txBody>
          <a:bodyPr>
            <a:normAutofit/>
          </a:bodyPr>
          <a:lstStyle/>
          <a:p>
            <a:r>
              <a:rPr lang="en-IN" sz="6000" b="1" cap="none" dirty="0">
                <a:ln w="22225">
                  <a:solidFill>
                    <a:schemeClr val="accent2"/>
                  </a:solidFill>
                  <a:prstDash val="solid"/>
                </a:ln>
                <a:solidFill>
                  <a:schemeClr val="accent2">
                    <a:lumMod val="40000"/>
                    <a:lumOff val="60000"/>
                  </a:schemeClr>
                </a:solidFill>
                <a:highlight>
                  <a:srgbClr val="FFFF00"/>
                </a:highlight>
              </a:rPr>
              <a:t>Graph of customer's age</a:t>
            </a:r>
          </a:p>
        </p:txBody>
      </p:sp>
      <p:pic>
        <p:nvPicPr>
          <p:cNvPr id="2050" name="Picture 2">
            <a:extLst>
              <a:ext uri="{FF2B5EF4-FFF2-40B4-BE49-F238E27FC236}">
                <a16:creationId xmlns:a16="http://schemas.microsoft.com/office/drawing/2014/main" id="{CCE3F384-0406-7AC8-1B6F-3D1E6B16BF6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37146" y="1711767"/>
            <a:ext cx="8667419" cy="458650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1EE1B581-ABAA-B737-57FD-8F20CD77C948}"/>
                  </a:ext>
                </a:extLst>
              </p14:cNvPr>
              <p14:cNvContentPartPr/>
              <p14:nvPr/>
            </p14:nvContentPartPr>
            <p14:xfrm>
              <a:off x="-308248" y="643673"/>
              <a:ext cx="360" cy="360"/>
            </p14:xfrm>
          </p:contentPart>
        </mc:Choice>
        <mc:Fallback xmlns="">
          <p:pic>
            <p:nvPicPr>
              <p:cNvPr id="9" name="Ink 8">
                <a:extLst>
                  <a:ext uri="{FF2B5EF4-FFF2-40B4-BE49-F238E27FC236}">
                    <a16:creationId xmlns:a16="http://schemas.microsoft.com/office/drawing/2014/main" id="{1EE1B581-ABAA-B737-57FD-8F20CD77C948}"/>
                  </a:ext>
                </a:extLst>
              </p:cNvPr>
              <p:cNvPicPr/>
              <p:nvPr/>
            </p:nvPicPr>
            <p:blipFill>
              <a:blip r:embed="rId5"/>
              <a:stretch>
                <a:fillRect/>
              </a:stretch>
            </p:blipFill>
            <p:spPr>
              <a:xfrm>
                <a:off x="-316888" y="63467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90A987DF-34A3-F3DB-556C-5411AE831BE3}"/>
                  </a:ext>
                </a:extLst>
              </p14:cNvPr>
              <p14:cNvContentPartPr/>
              <p14:nvPr/>
            </p14:nvContentPartPr>
            <p14:xfrm>
              <a:off x="2192672" y="1044713"/>
              <a:ext cx="360" cy="360"/>
            </p14:xfrm>
          </p:contentPart>
        </mc:Choice>
        <mc:Fallback xmlns="">
          <p:pic>
            <p:nvPicPr>
              <p:cNvPr id="10" name="Ink 9">
                <a:extLst>
                  <a:ext uri="{FF2B5EF4-FFF2-40B4-BE49-F238E27FC236}">
                    <a16:creationId xmlns:a16="http://schemas.microsoft.com/office/drawing/2014/main" id="{90A987DF-34A3-F3DB-556C-5411AE831BE3}"/>
                  </a:ext>
                </a:extLst>
              </p:cNvPr>
              <p:cNvPicPr/>
              <p:nvPr/>
            </p:nvPicPr>
            <p:blipFill>
              <a:blip r:embed="rId5"/>
              <a:stretch>
                <a:fillRect/>
              </a:stretch>
            </p:blipFill>
            <p:spPr>
              <a:xfrm>
                <a:off x="2183672" y="10357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5F6DCF98-B388-E325-D049-453522F73A9D}"/>
                  </a:ext>
                </a:extLst>
              </p14:cNvPr>
              <p14:cNvContentPartPr/>
              <p14:nvPr/>
            </p14:nvContentPartPr>
            <p14:xfrm>
              <a:off x="3517112" y="1035353"/>
              <a:ext cx="360" cy="360"/>
            </p14:xfrm>
          </p:contentPart>
        </mc:Choice>
        <mc:Fallback xmlns="">
          <p:pic>
            <p:nvPicPr>
              <p:cNvPr id="11" name="Ink 10">
                <a:extLst>
                  <a:ext uri="{FF2B5EF4-FFF2-40B4-BE49-F238E27FC236}">
                    <a16:creationId xmlns:a16="http://schemas.microsoft.com/office/drawing/2014/main" id="{5F6DCF98-B388-E325-D049-453522F73A9D}"/>
                  </a:ext>
                </a:extLst>
              </p:cNvPr>
              <p:cNvPicPr/>
              <p:nvPr/>
            </p:nvPicPr>
            <p:blipFill>
              <a:blip r:embed="rId5"/>
              <a:stretch>
                <a:fillRect/>
              </a:stretch>
            </p:blipFill>
            <p:spPr>
              <a:xfrm>
                <a:off x="3508472" y="1026713"/>
                <a:ext cx="18000" cy="18000"/>
              </a:xfrm>
              <a:prstGeom prst="rect">
                <a:avLst/>
              </a:prstGeom>
            </p:spPr>
          </p:pic>
        </mc:Fallback>
      </mc:AlternateContent>
    </p:spTree>
    <p:extLst>
      <p:ext uri="{BB962C8B-B14F-4D97-AF65-F5344CB8AC3E}">
        <p14:creationId xmlns:p14="http://schemas.microsoft.com/office/powerpoint/2010/main" val="1301474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A1688-915B-BEEA-B766-F0783A0017C5}"/>
              </a:ext>
            </a:extLst>
          </p:cNvPr>
          <p:cNvSpPr>
            <a:spLocks noGrp="1"/>
          </p:cNvSpPr>
          <p:nvPr>
            <p:ph type="title"/>
          </p:nvPr>
        </p:nvSpPr>
        <p:spPr/>
        <p:txBody>
          <a:bodyPr>
            <a:normAutofit fontScale="90000"/>
          </a:bodyPr>
          <a:lstStyle/>
          <a:p>
            <a:r>
              <a:rPr lang="en-US" sz="4400" b="1" cap="none"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Customer retention-</a:t>
            </a:r>
            <a:r>
              <a:rPr lang="en-IN" sz="4000" b="1" dirty="0" err="1">
                <a:ln w="6731" cap="flat" cmpd="sng" algn="ctr">
                  <a:solidFill>
                    <a:srgbClr val="FFFFFF"/>
                  </a:solidFill>
                  <a:prstDash val="solid"/>
                  <a:round/>
                </a:ln>
                <a:solidFill>
                  <a:schemeClr val="accent3">
                    <a:lumMod val="75000"/>
                  </a:schemeClr>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Shoping</a:t>
            </a:r>
            <a:r>
              <a:rPr lang="en-IN" sz="4000" b="1" dirty="0">
                <a:ln w="6731" cap="flat" cmpd="sng" algn="ctr">
                  <a:solidFill>
                    <a:srgbClr val="FFFFFF"/>
                  </a:solidFill>
                  <a:prstDash val="solid"/>
                  <a:round/>
                </a:ln>
                <a:solidFill>
                  <a:schemeClr val="accent3">
                    <a:lumMod val="75000"/>
                  </a:schemeClr>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 City Analysis:-</a:t>
            </a:r>
            <a:b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IN" sz="4400" b="1" cap="none"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49154" name="Picture 2">
            <a:extLst>
              <a:ext uri="{FF2B5EF4-FFF2-40B4-BE49-F238E27FC236}">
                <a16:creationId xmlns:a16="http://schemas.microsoft.com/office/drawing/2014/main" id="{FCD2FD9E-03DE-2C4E-80A2-854A622B62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579" y="1988133"/>
            <a:ext cx="8352483" cy="4284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4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0F311-3DC0-C6D3-FAEC-5ACECA0366E8}"/>
              </a:ext>
            </a:extLst>
          </p:cNvPr>
          <p:cNvSpPr>
            <a:spLocks noGrp="1"/>
          </p:cNvSpPr>
          <p:nvPr>
            <p:ph type="title"/>
          </p:nvPr>
        </p:nvSpPr>
        <p:spPr/>
        <p:txBody>
          <a:bodyPr>
            <a:normAutofit fontScale="90000"/>
          </a:bodyPr>
          <a:lstStyle/>
          <a:p>
            <a:pPr marL="342900" lvl="0" indent="-342900" fontAlgn="base">
              <a:lnSpc>
                <a:spcPct val="107000"/>
              </a:lnSpc>
              <a:spcBef>
                <a:spcPts val="200"/>
              </a:spcBef>
              <a:spcAft>
                <a:spcPts val="0"/>
              </a:spcAft>
            </a:pP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Customer Retention – </a:t>
            </a:r>
            <a:r>
              <a:rPr lang="en-IN" sz="36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Pincode</a:t>
            </a: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 Analysis:-</a:t>
            </a:r>
            <a:br>
              <a:rPr lang="en-IN" sz="36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3074" name="Picture 2">
            <a:extLst>
              <a:ext uri="{FF2B5EF4-FFF2-40B4-BE49-F238E27FC236}">
                <a16:creationId xmlns:a16="http://schemas.microsoft.com/office/drawing/2014/main" id="{B83ECF1B-BD60-AD36-7C4A-0EA839D21A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163" y="1904569"/>
            <a:ext cx="11756928" cy="3099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651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98CF-95D3-84FD-6960-18B9F0729CBA}"/>
              </a:ext>
            </a:extLst>
          </p:cNvPr>
          <p:cNvSpPr>
            <a:spLocks noGrp="1"/>
          </p:cNvSpPr>
          <p:nvPr>
            <p:ph type="title"/>
          </p:nvPr>
        </p:nvSpPr>
        <p:spPr/>
        <p:txBody>
          <a:bodyPr>
            <a:normAutofit/>
          </a:bodyPr>
          <a:lstStyle/>
          <a:p>
            <a:r>
              <a:rPr lang="en-IN" b="1" dirty="0">
                <a:solidFill>
                  <a:srgbClr val="333333"/>
                </a:solidFill>
                <a:effectLst/>
                <a:latin typeface="Open Sans" panose="020B0606030504020204" pitchFamily="34" charset="0"/>
                <a:ea typeface="Calibri" panose="020F0502020204030204" pitchFamily="34" charset="0"/>
              </a:rPr>
              <a:t>Customer Retention –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rPr>
              <a:t>Shoping</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rPr>
              <a:t> Time</a:t>
            </a:r>
            <a:r>
              <a:rPr lang="en-IN" b="1" dirty="0">
                <a:solidFill>
                  <a:srgbClr val="333333"/>
                </a:solidFill>
                <a:effectLst/>
                <a:latin typeface="Open Sans" panose="020B0606030504020204" pitchFamily="34" charset="0"/>
                <a:ea typeface="Calibri" panose="020F0502020204030204" pitchFamily="34" charset="0"/>
              </a:rPr>
              <a:t> Analysis:-</a:t>
            </a:r>
            <a:endParaRPr lang="en-IN" dirty="0"/>
          </a:p>
        </p:txBody>
      </p:sp>
      <p:pic>
        <p:nvPicPr>
          <p:cNvPr id="5122" name="Picture 2">
            <a:extLst>
              <a:ext uri="{FF2B5EF4-FFF2-40B4-BE49-F238E27FC236}">
                <a16:creationId xmlns:a16="http://schemas.microsoft.com/office/drawing/2014/main" id="{D0C38D85-02E8-6469-DAB0-7A113756298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68110" y="2016125"/>
            <a:ext cx="6770104"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366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80E3-9C60-9889-4A53-30AB165665F2}"/>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Customer Retention –  Online Purchase In 1 Online Purchase In 1 Year Analysis:-</a:t>
            </a:r>
            <a:br>
              <a:rPr lang="en-IN"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6146" name="Picture 2">
            <a:extLst>
              <a:ext uri="{FF2B5EF4-FFF2-40B4-BE49-F238E27FC236}">
                <a16:creationId xmlns:a16="http://schemas.microsoft.com/office/drawing/2014/main" id="{009BFD8F-7FDD-3EFA-A3C5-632D2FFDDA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9106" y="2016125"/>
            <a:ext cx="8548112"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597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3305-E9E9-6E0F-9F5B-0816DD2107D0}"/>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Customer Retention – Accessing Internet Analysis:-</a:t>
            </a:r>
            <a:br>
              <a:rPr lang="en-IN" sz="36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IN" sz="3600" dirty="0"/>
          </a:p>
        </p:txBody>
      </p:sp>
      <p:pic>
        <p:nvPicPr>
          <p:cNvPr id="7170" name="Picture 2">
            <a:extLst>
              <a:ext uri="{FF2B5EF4-FFF2-40B4-BE49-F238E27FC236}">
                <a16:creationId xmlns:a16="http://schemas.microsoft.com/office/drawing/2014/main" id="{1007FAB9-C24A-CD8D-2D63-7416825F47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1123" y="2016125"/>
            <a:ext cx="6884079"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155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A827D-39AC-F7E6-4E03-1BFBC1235F0B}"/>
              </a:ext>
            </a:extLst>
          </p:cNvPr>
          <p:cNvSpPr>
            <a:spLocks noGrp="1"/>
          </p:cNvSpPr>
          <p:nvPr>
            <p:ph type="title"/>
          </p:nvPr>
        </p:nvSpPr>
        <p:spPr/>
        <p:txBody>
          <a:bodyPr>
            <a:normAutofit fontScale="90000"/>
          </a:bodyPr>
          <a:lstStyle/>
          <a:p>
            <a:pPr marL="342900" lvl="0" indent="-342900" fontAlgn="base">
              <a:lnSpc>
                <a:spcPct val="107000"/>
              </a:lnSpc>
              <a:spcBef>
                <a:spcPts val="200"/>
              </a:spcBef>
              <a:spcAft>
                <a:spcPts val="0"/>
              </a:spcAft>
            </a:pP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Customer Retention – Device Analysis:-</a:t>
            </a:r>
            <a:br>
              <a:rPr lang="en-IN" sz="36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8194" name="Picture 2">
            <a:extLst>
              <a:ext uri="{FF2B5EF4-FFF2-40B4-BE49-F238E27FC236}">
                <a16:creationId xmlns:a16="http://schemas.microsoft.com/office/drawing/2014/main" id="{26D52F1C-82E5-F4D3-2EDD-CE0CCAD81B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2127" y="2016125"/>
            <a:ext cx="692207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270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2069-F5B0-82F1-F460-D4ED4E848B5C}"/>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Customer Retention – </a:t>
            </a:r>
            <a:r>
              <a:rPr lang="en-IN" sz="36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Pincode</a:t>
            </a: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Times New Roman" panose="02020603050405020304" pitchFamily="18" charset="0"/>
                <a:cs typeface="Times New Roman" panose="02020603050405020304" pitchFamily="18" charset="0"/>
              </a:rPr>
              <a:t> Analysis:-</a:t>
            </a:r>
            <a:br>
              <a:rPr lang="en-IN" sz="36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IN" sz="3600" dirty="0"/>
          </a:p>
        </p:txBody>
      </p:sp>
      <p:pic>
        <p:nvPicPr>
          <p:cNvPr id="9218" name="Picture 2">
            <a:extLst>
              <a:ext uri="{FF2B5EF4-FFF2-40B4-BE49-F238E27FC236}">
                <a16:creationId xmlns:a16="http://schemas.microsoft.com/office/drawing/2014/main" id="{5DAB8D70-DA0E-6846-FF6A-822B486438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76396" y="2016125"/>
            <a:ext cx="9353533"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52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BEC0-75D0-D54B-1BA1-91BC022EBD25}"/>
              </a:ext>
            </a:extLst>
          </p:cNvPr>
          <p:cNvSpPr>
            <a:spLocks noGrp="1"/>
          </p:cNvSpPr>
          <p:nvPr>
            <p:ph type="title"/>
          </p:nvPr>
        </p:nvSpPr>
        <p:spPr/>
        <p:txBody>
          <a:bodyPr/>
          <a:lstStyle/>
          <a:p>
            <a:r>
              <a:rPr lang="en-IN" sz="32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Operating System Time Analysis:-</a:t>
            </a:r>
            <a:endParaRPr lang="en-IN" dirty="0"/>
          </a:p>
        </p:txBody>
      </p:sp>
      <p:pic>
        <p:nvPicPr>
          <p:cNvPr id="10242" name="Picture 2">
            <a:extLst>
              <a:ext uri="{FF2B5EF4-FFF2-40B4-BE49-F238E27FC236}">
                <a16:creationId xmlns:a16="http://schemas.microsoft.com/office/drawing/2014/main" id="{F204D246-BEC5-CC9C-C6EE-71B7A2BC9F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975" y="2053488"/>
            <a:ext cx="9604375" cy="3374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418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24B6-7EB7-D890-FC93-F6680A487471}"/>
              </a:ext>
            </a:extLst>
          </p:cNvPr>
          <p:cNvSpPr>
            <a:spLocks noGrp="1"/>
          </p:cNvSpPr>
          <p:nvPr>
            <p:ph type="title"/>
          </p:nvPr>
        </p:nvSpPr>
        <p:spPr>
          <a:xfrm>
            <a:off x="1294362" y="681007"/>
            <a:ext cx="9603275" cy="1049235"/>
          </a:xfrm>
        </p:spPr>
        <p:style>
          <a:lnRef idx="2">
            <a:schemeClr val="dk1"/>
          </a:lnRef>
          <a:fillRef idx="1">
            <a:schemeClr val="lt1"/>
          </a:fillRef>
          <a:effectRef idx="0">
            <a:schemeClr val="dk1"/>
          </a:effectRef>
          <a:fontRef idx="minor">
            <a:schemeClr val="dk1"/>
          </a:fontRef>
        </p:style>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Browser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11266" name="Picture 2">
            <a:extLst>
              <a:ext uri="{FF2B5EF4-FFF2-40B4-BE49-F238E27FC236}">
                <a16:creationId xmlns:a16="http://schemas.microsoft.com/office/drawing/2014/main" id="{C2212597-8A77-13B9-9A57-A5B3C9BC6B3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18461" y="2016125"/>
            <a:ext cx="8469402"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573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A24D4-914E-638A-E033-943482921B87}"/>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Favourit</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Online Store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50178" name="Picture 2">
            <a:extLst>
              <a:ext uri="{FF2B5EF4-FFF2-40B4-BE49-F238E27FC236}">
                <a16:creationId xmlns:a16="http://schemas.microsoft.com/office/drawing/2014/main" id="{F88CDACB-1442-81FE-951D-5F45AB63DE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975" y="2163053"/>
            <a:ext cx="9604375" cy="3230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177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D6AB1-8E7A-C2B5-42A2-71C31966046B}"/>
              </a:ext>
            </a:extLst>
          </p:cNvPr>
          <p:cNvSpPr>
            <a:spLocks noGrp="1"/>
          </p:cNvSpPr>
          <p:nvPr>
            <p:ph type="title"/>
          </p:nvPr>
        </p:nvSpPr>
        <p:spPr/>
        <p:txBody>
          <a:bodyPr>
            <a:normAutofit fontScale="90000"/>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Purchase Decision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12290" name="Picture 2">
            <a:extLst>
              <a:ext uri="{FF2B5EF4-FFF2-40B4-BE49-F238E27FC236}">
                <a16:creationId xmlns:a16="http://schemas.microsoft.com/office/drawing/2014/main" id="{AA96D5B3-042A-0DEB-F927-D213A5EBE8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7732" y="2016125"/>
            <a:ext cx="7610860"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738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134B2-909F-D60C-DDCE-B969272EE01E}"/>
              </a:ext>
            </a:extLst>
          </p:cNvPr>
          <p:cNvSpPr>
            <a:spLocks noGrp="1"/>
          </p:cNvSpPr>
          <p:nvPr>
            <p:ph type="title"/>
          </p:nvPr>
        </p:nvSpPr>
        <p:spPr>
          <a:xfrm>
            <a:off x="1452075" y="627237"/>
            <a:ext cx="9603275" cy="1049235"/>
          </a:xfrm>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Purchase Decision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14338" name="Picture 2">
            <a:extLst>
              <a:ext uri="{FF2B5EF4-FFF2-40B4-BE49-F238E27FC236}">
                <a16:creationId xmlns:a16="http://schemas.microsoft.com/office/drawing/2014/main" id="{B1F5719A-216C-EBF9-444B-D0751F8A20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975" y="2137819"/>
            <a:ext cx="9604375" cy="320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104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22BC-000D-BA57-6F8E-3235C07E0349}"/>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Payment Option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15362" name="Picture 2">
            <a:extLst>
              <a:ext uri="{FF2B5EF4-FFF2-40B4-BE49-F238E27FC236}">
                <a16:creationId xmlns:a16="http://schemas.microsoft.com/office/drawing/2014/main" id="{11C81378-97BD-2BB2-D354-3F3C6BE6E6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975" y="2120841"/>
            <a:ext cx="9604375" cy="3240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6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44E1-062D-B551-3F5D-AC4AE3DAA3E1}"/>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Shoping</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Cart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16386" name="Picture 2">
            <a:extLst>
              <a:ext uri="{FF2B5EF4-FFF2-40B4-BE49-F238E27FC236}">
                <a16:creationId xmlns:a16="http://schemas.microsoft.com/office/drawing/2014/main" id="{1134AC9D-2B8E-36F9-42E0-516059F76B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975" y="2378491"/>
            <a:ext cx="9604375" cy="272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666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5AD0-BE79-AD0D-398E-2AE86D9C35F8}"/>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Abandon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Shoping</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Cart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17410" name="Picture 2">
            <a:extLst>
              <a:ext uri="{FF2B5EF4-FFF2-40B4-BE49-F238E27FC236}">
                <a16:creationId xmlns:a16="http://schemas.microsoft.com/office/drawing/2014/main" id="{61DECF94-A47E-9E49-AD91-21D7123D9D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975" y="2385390"/>
            <a:ext cx="9604375" cy="2711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150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AD2F-077B-7507-2BC9-3CB2517FFFC1}"/>
              </a:ext>
            </a:extLst>
          </p:cNvPr>
          <p:cNvSpPr>
            <a:spLocks noGrp="1"/>
          </p:cNvSpPr>
          <p:nvPr>
            <p:ph type="title"/>
          </p:nvPr>
        </p:nvSpPr>
        <p:spPr/>
        <p:txBody>
          <a:bodyPr>
            <a:normAutofit fontScale="90000"/>
          </a:bodyPr>
          <a:lstStyle/>
          <a:p>
            <a:r>
              <a:rPr lang="en-IN" sz="40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Website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18434" name="Picture 2">
            <a:extLst>
              <a:ext uri="{FF2B5EF4-FFF2-40B4-BE49-F238E27FC236}">
                <a16:creationId xmlns:a16="http://schemas.microsoft.com/office/drawing/2014/main" id="{F9314913-93CD-618B-6BA9-70315C2A54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752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D773A-F873-FB24-886B-FDFC3323E3F8}"/>
              </a:ext>
            </a:extLst>
          </p:cNvPr>
          <p:cNvSpPr>
            <a:spLocks noGrp="1"/>
          </p:cNvSpPr>
          <p:nvPr>
            <p:ph type="title"/>
          </p:nvPr>
        </p:nvSpPr>
        <p:spPr/>
        <p:txBody>
          <a:bodyPr>
            <a:normAutofit fontScale="90000"/>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Product Comparison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19458" name="Picture 2">
            <a:extLst>
              <a:ext uri="{FF2B5EF4-FFF2-40B4-BE49-F238E27FC236}">
                <a16:creationId xmlns:a16="http://schemas.microsoft.com/office/drawing/2014/main" id="{8057D553-CCBF-3C56-08A0-2F52B160B3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56017" y="2016125"/>
            <a:ext cx="739429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641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5B5-C6C6-E487-93C6-66ED9E85E8D1}"/>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Purchase Decision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0482" name="Picture 2">
            <a:extLst>
              <a:ext uri="{FF2B5EF4-FFF2-40B4-BE49-F238E27FC236}">
                <a16:creationId xmlns:a16="http://schemas.microsoft.com/office/drawing/2014/main" id="{B39084A4-891B-FEE8-02E7-18E1351C86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3428" y="2016125"/>
            <a:ext cx="8059468"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36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E9FA4-8C25-1B3C-5B14-72D0B81033EB}"/>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Relevant  Information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1506" name="Picture 2">
            <a:extLst>
              <a:ext uri="{FF2B5EF4-FFF2-40B4-BE49-F238E27FC236}">
                <a16:creationId xmlns:a16="http://schemas.microsoft.com/office/drawing/2014/main" id="{746B238A-7214-FA4B-3777-090103B486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78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400CE-2DFE-4ABF-BDA9-187EFFB75D09}"/>
              </a:ext>
            </a:extLst>
          </p:cNvPr>
          <p:cNvSpPr>
            <a:spLocks noGrp="1"/>
          </p:cNvSpPr>
          <p:nvPr>
            <p:ph type="title"/>
          </p:nvPr>
        </p:nvSpPr>
        <p:spPr/>
        <p:txBody>
          <a:bodyPr>
            <a:normAutofit fontScale="90000"/>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Ease of Navigation In website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2530" name="Picture 2">
            <a:extLst>
              <a:ext uri="{FF2B5EF4-FFF2-40B4-BE49-F238E27FC236}">
                <a16:creationId xmlns:a16="http://schemas.microsoft.com/office/drawing/2014/main" id="{BDC4AAF1-061E-0796-422F-CEFA2A329D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34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0412-B935-5617-B7DE-F4C3188E7C58}"/>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Loading And Processing Speed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3554" name="Picture 2">
            <a:extLst>
              <a:ext uri="{FF2B5EF4-FFF2-40B4-BE49-F238E27FC236}">
                <a16:creationId xmlns:a16="http://schemas.microsoft.com/office/drawing/2014/main" id="{E43EA5CC-3F28-329B-DE99-9AD895AD92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303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1286-1349-E478-6331-4C60D140AC5C}"/>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User Friendly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InterFace</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of The Website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4578" name="Picture 2">
            <a:extLst>
              <a:ext uri="{FF2B5EF4-FFF2-40B4-BE49-F238E27FC236}">
                <a16:creationId xmlns:a16="http://schemas.microsoft.com/office/drawing/2014/main" id="{53481A9B-E72F-3CF3-75F0-CF15DC8B78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694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11ED-B904-A527-237F-ABDD0D7137B1}"/>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Payment Method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5602" name="Picture 2">
            <a:extLst>
              <a:ext uri="{FF2B5EF4-FFF2-40B4-BE49-F238E27FC236}">
                <a16:creationId xmlns:a16="http://schemas.microsoft.com/office/drawing/2014/main" id="{F4DD09DA-9D0F-D291-552B-3D9D43BE96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064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4DAB-3C50-87EB-B2BB-D07DAE984FC4}"/>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Transuction</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Time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6626" name="Picture 2">
            <a:extLst>
              <a:ext uri="{FF2B5EF4-FFF2-40B4-BE49-F238E27FC236}">
                <a16:creationId xmlns:a16="http://schemas.microsoft.com/office/drawing/2014/main" id="{410A059A-1C7A-EA3E-B87C-002EBACE198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8557" y="2016125"/>
            <a:ext cx="7309210"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415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210E-35DD-3484-4B04-ED159E2DCEAE}"/>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Empathy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Towords</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the Customer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7650" name="Picture 2">
            <a:extLst>
              <a:ext uri="{FF2B5EF4-FFF2-40B4-BE49-F238E27FC236}">
                <a16:creationId xmlns:a16="http://schemas.microsoft.com/office/drawing/2014/main" id="{9D76FD9E-095B-207B-D6B4-C749FAF1CC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358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97F2A-7FED-936B-4F4C-D6AD32978333}"/>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Privacy of The Customer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8674" name="Picture 2">
            <a:extLst>
              <a:ext uri="{FF2B5EF4-FFF2-40B4-BE49-F238E27FC236}">
                <a16:creationId xmlns:a16="http://schemas.microsoft.com/office/drawing/2014/main" id="{47779F35-C246-1E45-B99A-C1EE00AD36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008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36E4-F6F5-0993-202D-811779D1C206}"/>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Communication Channels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29698" name="Picture 2">
            <a:extLst>
              <a:ext uri="{FF2B5EF4-FFF2-40B4-BE49-F238E27FC236}">
                <a16:creationId xmlns:a16="http://schemas.microsoft.com/office/drawing/2014/main" id="{D9A28A0E-A5F9-FE28-0890-CA5C670657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0338" y="2016125"/>
            <a:ext cx="8345648"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985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FF1D-4EB4-0764-4C0D-69DF95A1983F}"/>
              </a:ext>
            </a:extLst>
          </p:cNvPr>
          <p:cNvSpPr>
            <a:spLocks noGrp="1"/>
          </p:cNvSpPr>
          <p:nvPr>
            <p:ph type="title"/>
          </p:nvPr>
        </p:nvSpPr>
        <p:spPr/>
        <p:txBody>
          <a:bodyPr>
            <a:normAutofit fontScale="90000"/>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Benefit And Discount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30722" name="Picture 2">
            <a:extLst>
              <a:ext uri="{FF2B5EF4-FFF2-40B4-BE49-F238E27FC236}">
                <a16:creationId xmlns:a16="http://schemas.microsoft.com/office/drawing/2014/main" id="{1E779872-DFB0-F1D4-E6DC-E93A530191B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478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EBE00-F3B6-4121-2C31-7326C8F65BB1}"/>
              </a:ext>
            </a:extLst>
          </p:cNvPr>
          <p:cNvSpPr>
            <a:spLocks noGrp="1"/>
          </p:cNvSpPr>
          <p:nvPr>
            <p:ph type="title"/>
          </p:nvPr>
        </p:nvSpPr>
        <p:spPr/>
        <p:txBody>
          <a:bodyPr>
            <a:normAutofit fontScale="90000"/>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a:t>
            </a:r>
            <a:r>
              <a:rPr lang="en-IN" sz="36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Shoping</a:t>
            </a: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Enjoyment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31746" name="Picture 2">
            <a:extLst>
              <a:ext uri="{FF2B5EF4-FFF2-40B4-BE49-F238E27FC236}">
                <a16:creationId xmlns:a16="http://schemas.microsoft.com/office/drawing/2014/main" id="{433EB832-C3AF-5632-68D0-2552D927558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0596" y="2016125"/>
            <a:ext cx="6845133"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208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DACE-0AAC-B36E-C1BE-B582CBA48463}"/>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Shoping</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Online Convenient And Flexible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32770" name="Picture 2">
            <a:extLst>
              <a:ext uri="{FF2B5EF4-FFF2-40B4-BE49-F238E27FC236}">
                <a16:creationId xmlns:a16="http://schemas.microsoft.com/office/drawing/2014/main" id="{7321A894-B18D-7A1C-CA36-574B0DA73D0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43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F95B-DE3C-6962-0A39-F69469C497DF}"/>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Return And Replacement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33794" name="Picture 2">
            <a:extLst>
              <a:ext uri="{FF2B5EF4-FFF2-40B4-BE49-F238E27FC236}">
                <a16:creationId xmlns:a16="http://schemas.microsoft.com/office/drawing/2014/main" id="{4BAD07DE-607F-C661-B83C-2139D5897D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839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CDCC-A067-D0D3-4543-B7CF760DF7FE}"/>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Online </a:t>
            </a:r>
            <a:r>
              <a:rPr lang="en-IN" sz="36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Shoping</a:t>
            </a: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Benefit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34818" name="Picture 2">
            <a:extLst>
              <a:ext uri="{FF2B5EF4-FFF2-40B4-BE49-F238E27FC236}">
                <a16:creationId xmlns:a16="http://schemas.microsoft.com/office/drawing/2014/main" id="{27598F51-0270-9279-37AF-1E56F8160C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145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DBE0-89FF-5765-F5C9-0D53D0B0C1F4}"/>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Display Quality Satisfaction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35842" name="Picture 2">
            <a:extLst>
              <a:ext uri="{FF2B5EF4-FFF2-40B4-BE49-F238E27FC236}">
                <a16:creationId xmlns:a16="http://schemas.microsoft.com/office/drawing/2014/main" id="{2FA57DB6-F808-01C3-3CAC-909355E708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8055" y="2016125"/>
            <a:ext cx="6930214"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076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C014-D216-61B3-1549-7CFE206BC366}"/>
              </a:ext>
            </a:extLst>
          </p:cNvPr>
          <p:cNvSpPr>
            <a:spLocks noGrp="1"/>
          </p:cNvSpPr>
          <p:nvPr>
            <p:ph type="title"/>
          </p:nvPr>
        </p:nvSpPr>
        <p:spPr/>
        <p:txBody>
          <a:bodyPr>
            <a:normAutofit fontScale="90000"/>
          </a:bodyPr>
          <a:lstStyle/>
          <a:p>
            <a:pPr marL="342900" lvl="0" indent="-342900">
              <a:lnSpc>
                <a:spcPct val="107000"/>
              </a:lnSpc>
              <a:spcAft>
                <a:spcPts val="800"/>
              </a:spcAft>
            </a:pPr>
            <a:r>
              <a:rPr lang="en-IN" sz="27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Derive Satisfaction While </a:t>
            </a:r>
            <a:r>
              <a:rPr lang="en-IN" sz="27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Shoping</a:t>
            </a:r>
            <a:r>
              <a:rPr lang="en-IN" sz="27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On a Good </a:t>
            </a:r>
            <a:r>
              <a:rPr lang="en-IN" sz="27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Qualit</a:t>
            </a:r>
            <a:r>
              <a:rPr lang="en-IN" sz="27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Web Or App Analysis</a:t>
            </a:r>
            <a:r>
              <a:rPr lang="en-IN" sz="18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36866" name="Picture 2">
            <a:extLst>
              <a:ext uri="{FF2B5EF4-FFF2-40B4-BE49-F238E27FC236}">
                <a16:creationId xmlns:a16="http://schemas.microsoft.com/office/drawing/2014/main" id="{DF1F68E2-9064-A3CC-8C7E-5C96CBCA7B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4880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6DF84-598A-ABF5-86DA-C7C2229E8239}"/>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Net Benefit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37890" name="Picture 2">
            <a:extLst>
              <a:ext uri="{FF2B5EF4-FFF2-40B4-BE49-F238E27FC236}">
                <a16:creationId xmlns:a16="http://schemas.microsoft.com/office/drawing/2014/main" id="{AF8EEF46-9C05-6EAF-E91B-AA4835935B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922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BFB07-E501-125C-1D81-35454D42EB27}"/>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User Satisfaction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38914" name="Picture 2">
            <a:extLst>
              <a:ext uri="{FF2B5EF4-FFF2-40B4-BE49-F238E27FC236}">
                <a16:creationId xmlns:a16="http://schemas.microsoft.com/office/drawing/2014/main" id="{B39FB7A7-F22C-5CD3-7843-017EE306F2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213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5CC96-5588-CB3D-5043-BFDA39F4A102}"/>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Several Category Product Offer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39938" name="Picture 2">
            <a:extLst>
              <a:ext uri="{FF2B5EF4-FFF2-40B4-BE49-F238E27FC236}">
                <a16:creationId xmlns:a16="http://schemas.microsoft.com/office/drawing/2014/main" id="{6A020180-B45C-EEA7-F87C-0D1C6B181E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91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F1C9-C2EF-7670-B73E-13C0B88100C2}"/>
              </a:ext>
            </a:extLst>
          </p:cNvPr>
          <p:cNvSpPr>
            <a:spLocks noGrp="1"/>
          </p:cNvSpPr>
          <p:nvPr>
            <p:ph type="title"/>
          </p:nvPr>
        </p:nvSpPr>
        <p:spPr/>
        <p:txBody>
          <a:bodyPr>
            <a:normAutofit fontScale="90000"/>
          </a:bodyPr>
          <a:lstStyle/>
          <a:p>
            <a:r>
              <a:rPr lang="en-IN" sz="28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Provision Of Compete And Product Information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0962" name="Picture 2">
            <a:extLst>
              <a:ext uri="{FF2B5EF4-FFF2-40B4-BE49-F238E27FC236}">
                <a16:creationId xmlns:a16="http://schemas.microsoft.com/office/drawing/2014/main" id="{8DAF9B12-D880-886D-11B7-E3589D5269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4235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2AD55-BB66-288B-135F-09464C459B0C}"/>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Monetary Savings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41986" name="Picture 2">
            <a:extLst>
              <a:ext uri="{FF2B5EF4-FFF2-40B4-BE49-F238E27FC236}">
                <a16:creationId xmlns:a16="http://schemas.microsoft.com/office/drawing/2014/main" id="{F8F6FBA9-F87A-86EE-B428-2E407CB05A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660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B864-3853-B1C0-0F24-B80DCCF4D47C}"/>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Convenience Of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Ptronizing</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Online Retailer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3010" name="Picture 2">
            <a:extLst>
              <a:ext uri="{FF2B5EF4-FFF2-40B4-BE49-F238E27FC236}">
                <a16:creationId xmlns:a16="http://schemas.microsoft.com/office/drawing/2014/main" id="{7828E9BE-A5CE-98E5-F071-EC91719E10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2918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B7C63-F94A-AE0F-A3EA-224BEF548D83}"/>
              </a:ext>
            </a:extLst>
          </p:cNvPr>
          <p:cNvSpPr>
            <a:spLocks noGrp="1"/>
          </p:cNvSpPr>
          <p:nvPr>
            <p:ph type="title"/>
          </p:nvPr>
        </p:nvSpPr>
        <p:spPr/>
        <p:txBody>
          <a:bodyPr>
            <a:normAutofit fontScale="90000"/>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Sense Of Adventure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4034" name="Picture 2">
            <a:extLst>
              <a:ext uri="{FF2B5EF4-FFF2-40B4-BE49-F238E27FC236}">
                <a16:creationId xmlns:a16="http://schemas.microsoft.com/office/drawing/2014/main" id="{BE134C14-9612-72AD-66CA-F65916D050B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361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BB6D-0C5A-3F9B-6D1C-8DC7EA13E5D4}"/>
              </a:ext>
            </a:extLst>
          </p:cNvPr>
          <p:cNvSpPr>
            <a:spLocks noGrp="1"/>
          </p:cNvSpPr>
          <p:nvPr>
            <p:ph type="title"/>
          </p:nvPr>
        </p:nvSpPr>
        <p:spPr/>
        <p:txBody>
          <a:bodyPr>
            <a:noAutofit/>
          </a:bodyPr>
          <a:lstStyle/>
          <a:p>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Social </a:t>
            </a:r>
            <a:r>
              <a:rPr lang="en-IN"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Statuse</a:t>
            </a:r>
            <a:r>
              <a:rPr lang="en-IN"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Enhancing Analysis:-</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5058" name="Picture 2">
            <a:extLst>
              <a:ext uri="{FF2B5EF4-FFF2-40B4-BE49-F238E27FC236}">
                <a16:creationId xmlns:a16="http://schemas.microsoft.com/office/drawing/2014/main" id="{F5F82A16-3597-D799-C4D6-03BB0AE8DB0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1732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3EA9-36AF-C27E-1158-65E329D1242E}"/>
              </a:ext>
            </a:extLst>
          </p:cNvPr>
          <p:cNvSpPr>
            <a:spLocks noGrp="1"/>
          </p:cNvSpPr>
          <p:nvPr>
            <p:ph type="title"/>
          </p:nvPr>
        </p:nvSpPr>
        <p:spPr/>
        <p:txBody>
          <a:bodyPr>
            <a:normAutofit fontScale="90000"/>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Gratification feeling Analysis:-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6082" name="Picture 2">
            <a:extLst>
              <a:ext uri="{FF2B5EF4-FFF2-40B4-BE49-F238E27FC236}">
                <a16:creationId xmlns:a16="http://schemas.microsoft.com/office/drawing/2014/main" id="{32B1ECE4-2F10-34DF-9CB8-ADF249DAC54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443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CDD5B-F59E-A4F2-291E-B4BAA0219644}"/>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Certain Role </a:t>
            </a:r>
            <a:r>
              <a:rPr lang="en-IN" sz="3600" b="1" dirty="0" err="1">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Fulfill</a:t>
            </a:r>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47106" name="Picture 2">
            <a:extLst>
              <a:ext uri="{FF2B5EF4-FFF2-40B4-BE49-F238E27FC236}">
                <a16:creationId xmlns:a16="http://schemas.microsoft.com/office/drawing/2014/main" id="{817516F4-0D75-7A24-F6A8-3D32C9F0DA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0596" y="2016125"/>
            <a:ext cx="6845133"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998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EEE1-3B28-0CF1-E5DB-C45199086400}"/>
              </a:ext>
            </a:extLst>
          </p:cNvPr>
          <p:cNvSpPr>
            <a:spLocks noGrp="1"/>
          </p:cNvSpPr>
          <p:nvPr>
            <p:ph type="title"/>
          </p:nvPr>
        </p:nvSpPr>
        <p:spPr/>
        <p:txBody>
          <a:bodyPr>
            <a:noAutofit/>
          </a:bodyPr>
          <a:lstStyle/>
          <a:p>
            <a:r>
              <a:rPr lang="en-IN" sz="3600" b="1" dirty="0">
                <a:ln w="6731" cap="flat" cmpd="sng" algn="ctr">
                  <a:solidFill>
                    <a:srgbClr val="FFFFFF"/>
                  </a:solidFill>
                  <a:prstDash val="solid"/>
                  <a:round/>
                </a:ln>
                <a:solidFill>
                  <a:srgbClr val="262626"/>
                </a:solidFill>
                <a:effectLst>
                  <a:outerShdw dist="38100" dir="2700000" algn="bl">
                    <a:schemeClr val="accent5"/>
                  </a:outerShdw>
                </a:effectLst>
                <a:latin typeface="Open Sans" panose="020B0606030504020204" pitchFamily="34" charset="0"/>
                <a:ea typeface="Calibri" panose="020F0502020204030204" pitchFamily="34" charset="0"/>
                <a:cs typeface="Times New Roman" panose="02020603050405020304" pitchFamily="18" charset="0"/>
              </a:rPr>
              <a:t>Customer Retention – Getting Value for Money Spent Analysis:-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pic>
        <p:nvPicPr>
          <p:cNvPr id="48130" name="Picture 2">
            <a:extLst>
              <a:ext uri="{FF2B5EF4-FFF2-40B4-BE49-F238E27FC236}">
                <a16:creationId xmlns:a16="http://schemas.microsoft.com/office/drawing/2014/main" id="{1C79D518-FA8E-C1B7-A882-A22A4C3E8EB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7392" y="2016125"/>
            <a:ext cx="689154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048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032-255B-7B82-1D62-FDC126634818}"/>
              </a:ext>
            </a:extLst>
          </p:cNvPr>
          <p:cNvSpPr>
            <a:spLocks noGrp="1"/>
          </p:cNvSpPr>
          <p:nvPr>
            <p:ph type="title"/>
          </p:nvPr>
        </p:nvSpPr>
        <p:spPr>
          <a:xfrm>
            <a:off x="1451578" y="571254"/>
            <a:ext cx="9670512" cy="1238885"/>
          </a:xfrm>
        </p:spPr>
        <p:txBody>
          <a:bodyPr>
            <a:normAutofit fontScale="90000"/>
          </a:bodyPr>
          <a:lstStyle/>
          <a:p>
            <a:r>
              <a:rPr lang="en-US" sz="4400" b="1" i="0" cap="none" dirty="0">
                <a:ln w="22225">
                  <a:solidFill>
                    <a:schemeClr val="accent2"/>
                  </a:solidFill>
                  <a:prstDash val="solid"/>
                </a:ln>
                <a:solidFill>
                  <a:schemeClr val="accent2">
                    <a:lumMod val="40000"/>
                    <a:lumOff val="60000"/>
                  </a:schemeClr>
                </a:solidFill>
                <a:latin typeface="Open Sans" panose="020B0606030504020204" pitchFamily="34" charset="0"/>
              </a:rPr>
              <a:t>Steps and assumptions used to complete the project</a:t>
            </a:r>
            <a:br>
              <a:rPr lang="en-US" b="0" i="0" cap="none" dirty="0">
                <a:solidFill>
                  <a:schemeClr val="accent2">
                    <a:lumMod val="75000"/>
                  </a:schemeClr>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6933C1BB-AEF4-2B72-65B3-5576326DF045}"/>
              </a:ext>
            </a:extLst>
          </p:cNvPr>
          <p:cNvSpPr>
            <a:spLocks noGrp="1"/>
          </p:cNvSpPr>
          <p:nvPr>
            <p:ph idx="1"/>
          </p:nvPr>
        </p:nvSpPr>
        <p:spPr/>
        <p:txBody>
          <a:bodyPr>
            <a:normAutofit fontScale="77500" lnSpcReduction="20000"/>
          </a:bodyPr>
          <a:lstStyle/>
          <a:p>
            <a:pPr marL="0" indent="0">
              <a:buNone/>
            </a:pPr>
            <a:r>
              <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rPr>
              <a:t>Project can be accomplished in the following ways through after the data visualization:</a:t>
            </a:r>
          </a:p>
          <a:p>
            <a:pPr marL="342900" lvl="0" indent="-342900" fontAlgn="base">
              <a:lnSpc>
                <a:spcPts val="2625"/>
              </a:lnSpc>
              <a:spcAft>
                <a:spcPts val="800"/>
              </a:spcAft>
              <a:buSzPts val="1000"/>
              <a:buFont typeface="Symbol" panose="05050102010706020507" pitchFamily="18" charset="2"/>
              <a:buChar char=""/>
              <a:tabLst>
                <a:tab pos="457200" algn="l"/>
              </a:tabLst>
            </a:pPr>
            <a:r>
              <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Open Sans" panose="020B0606030504020204" pitchFamily="34" charset="0"/>
                <a:ea typeface="Times New Roman" panose="02020603050405020304" pitchFamily="18" charset="0"/>
                <a:cs typeface="Times New Roman" panose="02020603050405020304" pitchFamily="18" charset="0"/>
              </a:rPr>
              <a:t>Analysis of available data types</a:t>
            </a:r>
            <a:endPar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ts val="2625"/>
              </a:lnSpc>
              <a:spcAft>
                <a:spcPts val="800"/>
              </a:spcAft>
              <a:buSzPts val="1000"/>
              <a:buFont typeface="Symbol" panose="05050102010706020507" pitchFamily="18" charset="2"/>
              <a:buChar char=""/>
              <a:tabLst>
                <a:tab pos="457200" algn="l"/>
              </a:tabLst>
            </a:pPr>
            <a:r>
              <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Open Sans" panose="020B0606030504020204" pitchFamily="34" charset="0"/>
                <a:ea typeface="Times New Roman" panose="02020603050405020304" pitchFamily="18" charset="0"/>
                <a:cs typeface="Times New Roman" panose="02020603050405020304" pitchFamily="18" charset="0"/>
              </a:rPr>
              <a:t>Correlation analysis</a:t>
            </a:r>
            <a:endPar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ts val="2625"/>
              </a:lnSpc>
              <a:spcAft>
                <a:spcPts val="800"/>
              </a:spcAft>
              <a:buSzPts val="1000"/>
              <a:buFont typeface="Symbol" panose="05050102010706020507" pitchFamily="18" charset="2"/>
              <a:buChar char=""/>
              <a:tabLst>
                <a:tab pos="457200" algn="l"/>
              </a:tabLst>
            </a:pPr>
            <a:r>
              <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Open Sans" panose="020B0606030504020204" pitchFamily="34" charset="0"/>
                <a:ea typeface="Times New Roman" panose="02020603050405020304" pitchFamily="18" charset="0"/>
                <a:cs typeface="Times New Roman" panose="02020603050405020304" pitchFamily="18" charset="0"/>
              </a:rPr>
              <a:t>Outlier detection </a:t>
            </a:r>
            <a:endPar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ts val="2625"/>
              </a:lnSpc>
              <a:spcAft>
                <a:spcPts val="800"/>
              </a:spcAft>
              <a:buSzPts val="1000"/>
              <a:buFont typeface="Symbol" panose="05050102010706020507" pitchFamily="18" charset="2"/>
              <a:buChar char=""/>
              <a:tabLst>
                <a:tab pos="457200" algn="l"/>
              </a:tabLst>
            </a:pPr>
            <a:r>
              <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Open Sans" panose="020B0606030504020204" pitchFamily="34" charset="0"/>
                <a:ea typeface="Times New Roman" panose="02020603050405020304" pitchFamily="18" charset="0"/>
                <a:cs typeface="Times New Roman" panose="02020603050405020304" pitchFamily="18" charset="0"/>
              </a:rPr>
              <a:t>Missing values analysis</a:t>
            </a:r>
            <a:endPar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r>
              <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Open Sans" panose="020B0606030504020204" pitchFamily="34" charset="0"/>
                <a:ea typeface="Times New Roman" panose="02020603050405020304" pitchFamily="18" charset="0"/>
              </a:rPr>
              <a:t>Analysis and definition of the “target” variable </a:t>
            </a:r>
            <a:r>
              <a:rPr lang="en-US"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rPr>
              <a:t>	</a:t>
            </a:r>
            <a:endParaRPr lang="en-IN" sz="23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980256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A85F9-6B6C-4C5A-0209-3017FF6882D6}"/>
              </a:ext>
            </a:extLst>
          </p:cNvPr>
          <p:cNvSpPr>
            <a:spLocks noGrp="1"/>
          </p:cNvSpPr>
          <p:nvPr>
            <p:ph type="title"/>
          </p:nvPr>
        </p:nvSpPr>
        <p:spPr/>
        <p:txBody>
          <a:bodyPr>
            <a:noAutofit/>
          </a:bodyPr>
          <a:lstStyle/>
          <a:p>
            <a:r>
              <a:rPr lang="en-IN" sz="80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Conclusion:</a:t>
            </a:r>
          </a:p>
        </p:txBody>
      </p:sp>
      <p:sp>
        <p:nvSpPr>
          <p:cNvPr id="3" name="Content Placeholder 2">
            <a:extLst>
              <a:ext uri="{FF2B5EF4-FFF2-40B4-BE49-F238E27FC236}">
                <a16:creationId xmlns:a16="http://schemas.microsoft.com/office/drawing/2014/main" id="{F8990D25-8AF0-AB6B-DF68-662734C601C1}"/>
              </a:ext>
            </a:extLst>
          </p:cNvPr>
          <p:cNvSpPr>
            <a:spLocks noGrp="1"/>
          </p:cNvSpPr>
          <p:nvPr>
            <p:ph idx="1"/>
          </p:nvPr>
        </p:nvSpPr>
        <p:spPr/>
        <p:txBody>
          <a:bodyPr>
            <a:normAutofit lnSpcReduction="10000"/>
          </a:bodyPr>
          <a:lstStyle/>
          <a:p>
            <a:pPr marL="0" indent="0">
              <a:buNone/>
            </a:pPr>
            <a:r>
              <a:rPr lang="en-IN" sz="3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Open Sans" panose="020B0606030504020204" pitchFamily="34" charset="0"/>
                <a:ea typeface="Times New Roman" panose="02020603050405020304" pitchFamily="18" charset="0"/>
                <a:cs typeface="Times New Roman" panose="02020603050405020304" pitchFamily="18" charset="0"/>
              </a:rPr>
              <a:t>Based on the results and insights obtained regarding these steps, we have a better understanding of what variables we will be able to generate at the data preparation stage and what the system architecture will look like.</a:t>
            </a:r>
            <a:endParaRPr lang="en-IN" sz="3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05617744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382</TotalTime>
  <Words>710</Words>
  <Application>Microsoft Office PowerPoint</Application>
  <PresentationFormat>Widescreen</PresentationFormat>
  <Paragraphs>67</Paragraphs>
  <Slides>51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Calibri Light</vt:lpstr>
      <vt:lpstr>Courier New</vt:lpstr>
      <vt:lpstr>Gill Sans MT</vt:lpstr>
      <vt:lpstr>Open Sans</vt:lpstr>
      <vt:lpstr>Symbol</vt:lpstr>
      <vt:lpstr>Gallery</vt:lpstr>
      <vt:lpstr>Powerpoint Presentation Of Customer Retention</vt:lpstr>
      <vt:lpstr>Problem Statement:  </vt:lpstr>
      <vt:lpstr>Gender of respondent </vt:lpstr>
      <vt:lpstr>Graph of customer's age</vt:lpstr>
      <vt:lpstr>Customer retention-Shoping City Analysis:- </vt:lpstr>
      <vt:lpstr>Customer Retention – Pincode Analysis:-   </vt:lpstr>
      <vt:lpstr>Customer Retention – Shoping Time Analysis:-</vt:lpstr>
      <vt:lpstr>Customer Retention –  Online Purchase In 1 Online Purchase In 1 Year Analysis:-  </vt:lpstr>
      <vt:lpstr>Customer Retention – Accessing Internet Analysis:- </vt:lpstr>
      <vt:lpstr>Customer Retention – Device Analysis:-   </vt:lpstr>
      <vt:lpstr>Customer Retention – Pincode Analysis:- </vt:lpstr>
      <vt:lpstr>Customer Retention – Operating System Time Analysis:-</vt:lpstr>
      <vt:lpstr>Customer Retention – Browser Analysis:-  </vt:lpstr>
      <vt:lpstr>Customer Retention – Favourit Online Store Analysis:- </vt:lpstr>
      <vt:lpstr>Customer Retention – Purchase Decision Analysis:- </vt:lpstr>
      <vt:lpstr>Customer Retention – Purchase Decision Analysis:-  </vt:lpstr>
      <vt:lpstr>Customer Retention – Payment Option Analysis:- </vt:lpstr>
      <vt:lpstr>Customer Retention – Shoping Cart Analysis:- </vt:lpstr>
      <vt:lpstr>Customer Retention – Abandon Shoping Cart Analysis:- </vt:lpstr>
      <vt:lpstr>Customer Retention – Website Analysis:- </vt:lpstr>
      <vt:lpstr>Customer Retention – Product Comparison Analysis:- </vt:lpstr>
      <vt:lpstr>Customer Retention – Purchase Decision Analysis:- </vt:lpstr>
      <vt:lpstr>Customer Retention – Relevant  Information Analysis:- </vt:lpstr>
      <vt:lpstr>Customer Retention – Ease of Navigation In website Analysis:- </vt:lpstr>
      <vt:lpstr>Customer Retention – Loading And Processing Speed Analysis:- </vt:lpstr>
      <vt:lpstr>Customer Retention – User Friendly InterFace of The Website Analysis:- </vt:lpstr>
      <vt:lpstr>Customer Retention – Payment Method Analysis:- </vt:lpstr>
      <vt:lpstr>Customer Retention – Transuction Time Analysis:- </vt:lpstr>
      <vt:lpstr>Customer Retention – Empathy Towords the Customer Analysis:- </vt:lpstr>
      <vt:lpstr>Customer Retention – Privacy of The Customer Analysis:- </vt:lpstr>
      <vt:lpstr>Customer Retention – Communication Channels Analysis:- </vt:lpstr>
      <vt:lpstr>Customer Retention – Benefit And Discount Analysis:- </vt:lpstr>
      <vt:lpstr>Customer Retention – Shoping Enjoyment Analysis:- </vt:lpstr>
      <vt:lpstr>Customer Retention – Shoping Online Convenient And Flexible Analysis:- </vt:lpstr>
      <vt:lpstr>Customer Retention – Return And Replacement Analysis:- </vt:lpstr>
      <vt:lpstr>Customer Retention – Online Shoping Benefit Analysis:- </vt:lpstr>
      <vt:lpstr>Customer Retention – Display Quality Satisfaction Analysis:- </vt:lpstr>
      <vt:lpstr>Customer Retention – Derive Satisfaction While Shoping On a Good Qualit Web Or App Analysis:-   </vt:lpstr>
      <vt:lpstr>Customer Retention – Net Benefit Analysis:- </vt:lpstr>
      <vt:lpstr>Customer Retention – User Satisfaction Analysis:- </vt:lpstr>
      <vt:lpstr>Customer Retention – Several Category Product Offer Analysis:- </vt:lpstr>
      <vt:lpstr>Customer Retention – Provision Of Compete And Product Information  Analysis:- </vt:lpstr>
      <vt:lpstr>Customer Retention – Monetary Savings Analysis:- </vt:lpstr>
      <vt:lpstr>Customer Retention – Convenience Of Ptronizing Online Retailer Analysis:- </vt:lpstr>
      <vt:lpstr>Customer Retention – Sense Of Adventure Analysis:- </vt:lpstr>
      <vt:lpstr>Customer Retention – Social Statuse Enhancing Analysis:- </vt:lpstr>
      <vt:lpstr>Customer Retention – Gratification feeling Analysis:- </vt:lpstr>
      <vt:lpstr>Customer Retention – Certain Role Fulfill Analysis:- </vt:lpstr>
      <vt:lpstr>Customer Retention – Getting Value for Money Spent Analysis:- </vt:lpstr>
      <vt:lpstr>Steps and assumptions used to complete the project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Of Customer Retention</dc:title>
  <dc:creator>KOUSHIK BISWAS</dc:creator>
  <cp:lastModifiedBy>KOUSHIK BISWAS</cp:lastModifiedBy>
  <cp:revision>10</cp:revision>
  <dcterms:created xsi:type="dcterms:W3CDTF">2022-05-11T03:21:43Z</dcterms:created>
  <dcterms:modified xsi:type="dcterms:W3CDTF">2022-05-12T17:28:10Z</dcterms:modified>
</cp:coreProperties>
</file>